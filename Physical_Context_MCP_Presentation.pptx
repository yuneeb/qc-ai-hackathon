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E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3317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7DC9C0"/>
                </a:solidFill>
                <a:latin typeface="Segoe UI"/>
              </a:rPr>
              <a:t>QC AI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Giving Claude Physical-World 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C9D3E3"/>
                </a:solidFill>
                <a:latin typeface="Segoe UI"/>
              </a:rPr>
              <a:t>A local-first MCP tool that fuses live sensor + phone telemetry with cloud and on-device LLM inference, so Claude reasons from reality instead of assumptions.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E8A7E"/>
                </a:solidFill>
                <a:latin typeface="Segoe U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223D"/>
                </a:solidFill>
                <a:latin typeface="Segoe UI"/>
              </a:rPr>
              <a:t>Chatbots Are Blind To The Room You're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2E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1700" b="1">
                <a:solidFill>
                  <a:srgbClr val="2E6FEB"/>
                </a:solidFill>
                <a:latin typeface="Segoe UI"/>
              </a:rPr>
              <a:t>▪  </a:t>
            </a:r>
            <a:r>
              <a:rPr sz="2000">
                <a:solidFill>
                  <a:srgbClr val="333B47"/>
                </a:solidFill>
                <a:latin typeface="Segoe UI"/>
              </a:rPr>
              <a:t>Claude is smart, but has no idea if you're cold, moving, or indoors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1700" b="1">
                <a:solidFill>
                  <a:srgbClr val="2E6FEB"/>
                </a:solidFill>
                <a:latin typeface="Segoe UI"/>
              </a:rPr>
              <a:t>▪  </a:t>
            </a:r>
            <a:r>
              <a:rPr sz="2000">
                <a:solidFill>
                  <a:srgbClr val="333B47"/>
                </a:solidFill>
                <a:latin typeface="Segoe UI"/>
              </a:rPr>
              <a:t>We built a tool that gives it live physical-world awareness: temperature, distance, location, motion, device state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1700" b="1">
                <a:solidFill>
                  <a:srgbClr val="2E6FEB"/>
                </a:solidFill>
                <a:latin typeface="Segoe UI"/>
              </a:rPr>
              <a:t>▪  </a:t>
            </a:r>
            <a:r>
              <a:rPr sz="2000">
                <a:solidFill>
                  <a:srgbClr val="333B47"/>
                </a:solidFill>
                <a:latin typeface="Segoe UI"/>
              </a:rPr>
              <a:t>Now it can answer “should I turn the heater on?” with real data — not a guess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1700" b="1">
                <a:solidFill>
                  <a:srgbClr val="2E6FEB"/>
                </a:solidFill>
                <a:latin typeface="Segoe UI"/>
              </a:rPr>
              <a:t>▪  </a:t>
            </a:r>
            <a:r>
              <a:rPr sz="2000">
                <a:solidFill>
                  <a:srgbClr val="333B47"/>
                </a:solidFill>
                <a:latin typeface="Segoe UI"/>
              </a:rPr>
              <a:t>Two sensor sources → two tiers of AI interpretation → one open protocol (MCP) → 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Physical-Context MCP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E8A7E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223D"/>
                </a:solidFill>
                <a:latin typeface="Segoe UI"/>
              </a:rPr>
              <a:t>How It Fits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2E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49727" y="1691640"/>
            <a:ext cx="3063240" cy="566928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5875">
            <a:solidFill>
              <a:srgbClr val="2E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b="1" sz="1500">
                <a:solidFill>
                  <a:srgbClr val="11223D"/>
                </a:solidFill>
                <a:latin typeface="Segoe UI"/>
              </a:rPr>
              <a:t>Arduino UNO Q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5B6675"/>
                </a:solidFill>
                <a:latin typeface="Segoe UI"/>
              </a:rPr>
              <a:t>temperature + distance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691640"/>
            <a:ext cx="3063240" cy="566928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5875">
            <a:solidFill>
              <a:srgbClr val="2E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b="1" sz="1500">
                <a:solidFill>
                  <a:srgbClr val="11223D"/>
                </a:solidFill>
                <a:latin typeface="Segoe UI"/>
              </a:rPr>
              <a:t>Samsung Galaxy S25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5B6675"/>
                </a:solidFill>
                <a:latin typeface="Segoe UI"/>
              </a:rPr>
              <a:t>location + motion</a:t>
            </a:r>
          </a:p>
        </p:txBody>
      </p:sp>
      <p:sp>
        <p:nvSpPr>
          <p:cNvPr id="7" name="Down Arrow 6"/>
          <p:cNvSpPr/>
          <p:nvPr/>
        </p:nvSpPr>
        <p:spPr>
          <a:xfrm>
            <a:off x="4235043" y="2331720"/>
            <a:ext cx="292608" cy="292608"/>
          </a:xfrm>
          <a:prstGeom prst="downArrow">
            <a:avLst/>
          </a:prstGeom>
          <a:solidFill>
            <a:srgbClr val="C4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>
            <a:off x="7664043" y="2331720"/>
            <a:ext cx="292608" cy="292608"/>
          </a:xfrm>
          <a:prstGeom prst="downArrow">
            <a:avLst/>
          </a:prstGeom>
          <a:solidFill>
            <a:srgbClr val="C4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92727" y="2697480"/>
            <a:ext cx="4206240" cy="566928"/>
          </a:xfrm>
          <a:prstGeom prst="roundRect">
            <a:avLst>
              <a:gd name="adj" fmla="val 9000"/>
            </a:avLst>
          </a:prstGeom>
          <a:solidFill>
            <a:srgbClr val="EEF1F6"/>
          </a:solidFill>
          <a:ln w="15875">
            <a:solidFill>
              <a:srgbClr val="112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b="1" sz="1500">
                <a:solidFill>
                  <a:srgbClr val="11223D"/>
                </a:solidFill>
                <a:latin typeface="Segoe UI"/>
              </a:rPr>
              <a:t>Context Builder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5B6675"/>
                </a:solidFill>
                <a:latin typeface="Segoe UI"/>
              </a:rPr>
              <a:t>fetch → fallback → label → prompt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49543" y="3337560"/>
            <a:ext cx="292608" cy="292608"/>
          </a:xfrm>
          <a:prstGeom prst="downArrow">
            <a:avLst/>
          </a:prstGeom>
          <a:solidFill>
            <a:srgbClr val="C4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83967" y="3703320"/>
            <a:ext cx="3429000" cy="77724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5875">
            <a:solidFill>
              <a:srgbClr val="2E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b="1" sz="1500">
                <a:solidFill>
                  <a:srgbClr val="11223D"/>
                </a:solidFill>
                <a:latin typeface="Segoe UI"/>
              </a:rPr>
              <a:t>Imagine SDK — 1st choice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5B6675"/>
                </a:solidFill>
                <a:latin typeface="Segoe UI"/>
              </a:rPr>
              <a:t>Qualcomm Cloud AI 100 (cloud)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5B6675"/>
                </a:solidFill>
                <a:latin typeface="Segoe UI"/>
              </a:rPr>
              <a:t>Llama-3.1-8B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3703320"/>
            <a:ext cx="3429000" cy="77724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5875">
            <a:solidFill>
              <a:srgbClr val="0E8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b="1" sz="1500">
                <a:solidFill>
                  <a:srgbClr val="11223D"/>
                </a:solidFill>
                <a:latin typeface="Segoe UI"/>
              </a:rPr>
              <a:t>genieX — 2nd choice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5B6675"/>
                </a:solidFill>
                <a:latin typeface="Segoe UI"/>
              </a:rPr>
              <a:t>Qualcomm NPU (on-device)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5B6675"/>
                </a:solidFill>
                <a:latin typeface="Segoe UI"/>
              </a:rPr>
              <a:t>Qwen3-4B, quantized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3967" y="4526280"/>
            <a:ext cx="7223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5B6675"/>
                </a:solidFill>
                <a:latin typeface="Segoe UI"/>
              </a:rPr>
              <a:t>raw labeled readings = last-resort fallback if both LLMs fail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49543" y="4828032"/>
            <a:ext cx="292608" cy="292608"/>
          </a:xfrm>
          <a:prstGeom prst="downArrow">
            <a:avLst/>
          </a:prstGeom>
          <a:solidFill>
            <a:srgbClr val="C4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92727" y="5193792"/>
            <a:ext cx="4206240" cy="502920"/>
          </a:xfrm>
          <a:prstGeom prst="roundRect">
            <a:avLst>
              <a:gd name="adj" fmla="val 9000"/>
            </a:avLst>
          </a:prstGeom>
          <a:solidFill>
            <a:srgbClr val="EEF1F6"/>
          </a:solidFill>
          <a:ln w="15875">
            <a:solidFill>
              <a:srgbClr val="112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b="1" sz="1400">
                <a:solidFill>
                  <a:srgbClr val="11223D"/>
                </a:solidFill>
                <a:latin typeface="Segoe UI"/>
              </a:rPr>
              <a:t>MCP Tool — FastMCP (stdio)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67831" y="5760720"/>
            <a:ext cx="256032" cy="256032"/>
          </a:xfrm>
          <a:prstGeom prst="downArrow">
            <a:avLst/>
          </a:prstGeom>
          <a:solidFill>
            <a:srgbClr val="C4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07127" y="6080760"/>
            <a:ext cx="2377440" cy="457200"/>
          </a:xfrm>
          <a:prstGeom prst="roundRect">
            <a:avLst>
              <a:gd name="adj" fmla="val 9000"/>
            </a:avLst>
          </a:prstGeom>
          <a:solidFill>
            <a:srgbClr val="11223D"/>
          </a:solidFill>
          <a:ln w="15875">
            <a:solidFill>
              <a:srgbClr val="112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b="1" sz="1500">
                <a:solidFill>
                  <a:srgbClr val="FFFFFF"/>
                </a:solidFill>
                <a:latin typeface="Segoe UI"/>
              </a:rPr>
              <a:t>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Physical-Context MCP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E8A7E"/>
                </a:solidFill>
                <a:latin typeface="Segoe UI"/>
              </a:rPr>
              <a:t>SENSOR SOURCE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223D"/>
                </a:solidFill>
                <a:latin typeface="Segoe UI"/>
              </a:rPr>
              <a:t>Arduino UNO Q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2E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900">
                <a:solidFill>
                  <a:srgbClr val="333B47"/>
                </a:solidFill>
                <a:latin typeface="Segoe UI"/>
              </a:rPr>
              <a:t>The UNO Q pairs a microcontroller with an onboard, Linux-capable Qualcomm chip — Qualcomm silicon on the sensing side too, not just inference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900">
                <a:solidFill>
                  <a:srgbClr val="333B47"/>
                </a:solidFill>
                <a:latin typeface="Segoe UI"/>
              </a:rPr>
              <a:t>Modulino thermometer + distance sensor, connected over I2C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900">
                <a:solidFill>
                  <a:srgbClr val="333B47"/>
                </a:solidFill>
                <a:latin typeface="Segoe UI"/>
              </a:rPr>
              <a:t>MCU side exposes get_temperature() / get_distance() as RPC calls over the Arduino Bridge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900">
                <a:solidFill>
                  <a:srgbClr val="333B47"/>
                </a:solidFill>
                <a:latin typeface="Segoe UI"/>
              </a:rPr>
              <a:t>Linux side polls those RPCs and serves the latest reading as JSON over HTTP (:9000/data)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900">
                <a:solidFill>
                  <a:srgbClr val="333B47"/>
                </a:solidFill>
                <a:latin typeface="Segoe UI"/>
              </a:rPr>
              <a:t>Live reading pulled during this session:</a:t>
            </a:r>
          </a:p>
          <a:p>
            <a:pPr marL="384048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5B6675"/>
                </a:solidFill>
                <a:latin typeface="Segoe UI"/>
              </a:rPr>
              <a:t>–  </a:t>
            </a:r>
            <a:r>
              <a:rPr sz="1500" i="0">
                <a:solidFill>
                  <a:srgbClr val="5B6675"/>
                </a:solidFill>
                <a:latin typeface="Segoe UI"/>
              </a:rPr>
              <a:t>temperature: 23°C, distance: 17, timestamped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Physical-Context MCP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E8A7E"/>
                </a:solidFill>
                <a:latin typeface="Segoe UI"/>
              </a:rPr>
              <a:t>SENSOR SOURCE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223D"/>
                </a:solidFill>
                <a:latin typeface="Segoe UI"/>
              </a:rPr>
              <a:t>Samsung Galaxy S25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2E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800">
                <a:solidFill>
                  <a:srgbClr val="333B47"/>
                </a:solidFill>
                <a:latin typeface="Segoe UI"/>
              </a:rPr>
              <a:t>Streams a rolling window: 5 snapshots, 5 seconds apart (~20s of history) — not a single reading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800">
                <a:solidFill>
                  <a:srgbClr val="333B47"/>
                </a:solidFill>
                <a:latin typeface="Segoe UI"/>
              </a:rPr>
              <a:t>Per snapshot: GPS + accuracy/speed/bearing, accelerometer, gyroscope, magnetometer, pressure, ambient light, step count, device state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800">
                <a:solidFill>
                  <a:srgbClr val="333B47"/>
                </a:solidFill>
                <a:latin typeface="Segoe UI"/>
              </a:rPr>
              <a:t>Why a window: a single reading can't tell stationary vs. walking vs. travelling — comparing snapshots can</a:t>
            </a:r>
          </a:p>
          <a:p>
            <a:pPr marL="384048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5B6675"/>
                </a:solidFill>
                <a:latin typeface="Segoe UI"/>
              </a:rPr>
              <a:t>–  </a:t>
            </a:r>
            <a:r>
              <a:rPr sz="1500" i="0">
                <a:solidFill>
                  <a:srgbClr val="5B6675"/>
                </a:solidFill>
                <a:latin typeface="Segoe UI"/>
              </a:rPr>
              <a:t>e.g. unchanging GPS + zero speed + no motion across 5 snapshots → confidently “still”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800">
                <a:solidFill>
                  <a:srgbClr val="333B47"/>
                </a:solidFill>
                <a:latin typeface="Segoe UI"/>
              </a:rPr>
              <a:t>The phone's own inferred_activity guess is stripped out before it reaches the LLM</a:t>
            </a:r>
          </a:p>
          <a:p>
            <a:pPr marL="384048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5B6675"/>
                </a:solidFill>
                <a:latin typeface="Segoe UI"/>
              </a:rPr>
              <a:t>–  </a:t>
            </a:r>
            <a:r>
              <a:rPr sz="1500" i="0">
                <a:solidFill>
                  <a:srgbClr val="5B6675"/>
                </a:solidFill>
                <a:latin typeface="Segoe UI"/>
              </a:rPr>
              <a:t>our pipeline infers activity from the raw sensor series instead of trusting a black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Physical-Context MCP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E8A7E"/>
                </a:solidFill>
                <a:latin typeface="Segoe UI"/>
              </a:rPr>
              <a:t>FUSING THE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223D"/>
                </a:solidFill>
                <a:latin typeface="Segoe UI"/>
              </a:rPr>
              <a:t>What Claude Actually Sees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2E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800">
                <a:solidFill>
                  <a:srgbClr val="333B47"/>
                </a:solidFill>
                <a:latin typeface="Segoe UI"/>
              </a:rPr>
              <a:t>Both sources merge into one physical_context module, each labeled live vs. fallback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800">
                <a:solidFill>
                  <a:srgbClr val="333B47"/>
                </a:solidFill>
                <a:latin typeface="Segoe UI"/>
              </a:rPr>
              <a:t>Two modes from the same tool call:</a:t>
            </a:r>
          </a:p>
          <a:p>
            <a:pPr marL="384048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5B6675"/>
                </a:solidFill>
                <a:latin typeface="Segoe UI"/>
              </a:rPr>
              <a:t>–  </a:t>
            </a:r>
            <a:r>
              <a:rPr sz="1500" i="0">
                <a:solidFill>
                  <a:srgbClr val="5B6675"/>
                </a:solidFill>
                <a:latin typeface="Segoe UI"/>
              </a:rPr>
              <a:t>raw mode (default) — labeled JSON, Claude interprets it itself, no LLM latency</a:t>
            </a:r>
          </a:p>
          <a:p>
            <a:pPr marL="384048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5B6675"/>
                </a:solidFill>
                <a:latin typeface="Segoe UI"/>
              </a:rPr>
              <a:t>–  </a:t>
            </a:r>
            <a:r>
              <a:rPr sz="1500" i="0">
                <a:solidFill>
                  <a:srgbClr val="5B6675"/>
                </a:solidFill>
                <a:latin typeface="Segoe UI"/>
              </a:rPr>
              <a:t>interpreted mode — passed through the LLM stack, returns a plain-English paragraph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977639"/>
            <a:ext cx="50800" cy="1691640"/>
          </a:xfrm>
          <a:prstGeom prst="rect">
            <a:avLst/>
          </a:prstGeom>
          <a:solidFill>
            <a:srgbClr val="2E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023359"/>
            <a:ext cx="9875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1">
                <a:solidFill>
                  <a:srgbClr val="11223D"/>
                </a:solidFill>
                <a:latin typeface="Segoe UI"/>
              </a:rPr>
              <a:t>“The user is currently in a still position, likely indoors, with a temperature of 23°C… The device is connected to Wi-Fi and has a battery level of 99%.”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12079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5B6675"/>
                </a:solidFill>
                <a:latin typeface="Segoe UI"/>
              </a:rPr>
              <a:t>Live tool output pulled during this session — location fields redacted for this slide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Physical-Context MCP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E8A7E"/>
                </a:solidFill>
                <a:latin typeface="Segoe UI"/>
              </a:rPr>
              <a:t>THE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223D"/>
                </a:solidFill>
                <a:latin typeface="Segoe UI"/>
              </a:rPr>
              <a:t>FastMCP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2E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900">
                <a:solidFill>
                  <a:srgbClr val="333B47"/>
                </a:solidFill>
                <a:latin typeface="Segoe UI"/>
              </a:rPr>
              <a:t>MCP (Model Context Protocol) is the open standard for connecting an AI assistant to external tools — the “USB-C port for AI apps”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900">
                <a:solidFill>
                  <a:srgbClr val="333B47"/>
                </a:solidFill>
                <a:latin typeface="Segoe UI"/>
              </a:rPr>
              <a:t>FastMCP turns a plain Python function into an MCP tool with almost no boilerplate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900">
                <a:solidFill>
                  <a:srgbClr val="333B47"/>
                </a:solidFill>
                <a:latin typeface="Segoe UI"/>
              </a:rPr>
              <a:t>Runs as a local stdio server — no network port, no auth to manage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900">
                <a:solidFill>
                  <a:srgbClr val="333B47"/>
                </a:solidFill>
                <a:latin typeface="Segoe UI"/>
              </a:rPr>
              <a:t>Ships instructions telling Claude WHEN to reach for it — the model decides per-question, it's not forced into every response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900">
                <a:solidFill>
                  <a:srgbClr val="333B47"/>
                </a:solidFill>
                <a:latin typeface="Segoe UI"/>
              </a:rPr>
              <a:t>Registered once; any Claude Code session in this project then gets it like a native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Physical-Context MCP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E8A7E"/>
                </a:solidFill>
                <a:latin typeface="Segoe UI"/>
              </a:rPr>
              <a:t>CLOUD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223D"/>
                </a:solidFill>
                <a:latin typeface="Segoe UI"/>
              </a:rPr>
              <a:t>Imagine SDK on Qualcomm Cloud AI 100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2E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1700" b="1">
                <a:solidFill>
                  <a:srgbClr val="2E6FEB"/>
                </a:solidFill>
                <a:latin typeface="Segoe UI"/>
              </a:rPr>
              <a:t>▪  </a:t>
            </a:r>
            <a:r>
              <a:rPr sz="2000">
                <a:solidFill>
                  <a:srgbClr val="333B47"/>
                </a:solidFill>
                <a:latin typeface="Segoe UI"/>
              </a:rPr>
              <a:t>1st-choice interpreter — fastest response, best-quality summary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1700" b="1">
                <a:solidFill>
                  <a:srgbClr val="2E6FEB"/>
                </a:solidFill>
                <a:latin typeface="Segoe UI"/>
              </a:rPr>
              <a:t>▪  </a:t>
            </a:r>
            <a:r>
              <a:rPr sz="2000">
                <a:solidFill>
                  <a:srgbClr val="333B47"/>
                </a:solidFill>
                <a:latin typeface="Segoe UI"/>
              </a:rPr>
              <a:t>Runs on Qualcomm Cloud AI 100 accelerator chips via the Imagine platform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1700" b="1">
                <a:solidFill>
                  <a:srgbClr val="2E6FEB"/>
                </a:solidFill>
                <a:latin typeface="Segoe UI"/>
              </a:rPr>
              <a:t>▪  </a:t>
            </a:r>
            <a:r>
              <a:rPr sz="2000">
                <a:solidFill>
                  <a:srgbClr val="333B47"/>
                </a:solidFill>
                <a:latin typeface="Segoe UI"/>
              </a:rPr>
              <a:t>Model: Llama-3.1-8B, called over a simple chat-completions SDK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1700" b="1">
                <a:solidFill>
                  <a:srgbClr val="2E6FEB"/>
                </a:solidFill>
                <a:latin typeface="Segoe UI"/>
              </a:rPr>
              <a:t>▪  </a:t>
            </a:r>
            <a:r>
              <a:rPr sz="2000">
                <a:solidFill>
                  <a:srgbClr val="333B47"/>
                </a:solidFill>
                <a:latin typeface="Segoe UI"/>
              </a:rPr>
              <a:t>If the endpoint is unreachable or errors out, the pipeline falls through automatically — no crash, no manual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Physical-Context MCP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E8A7E"/>
                </a:solidFill>
                <a:latin typeface="Segoe UI"/>
              </a:rPr>
              <a:t>LOCAL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223D"/>
                </a:solidFill>
                <a:latin typeface="Segoe UI"/>
              </a:rPr>
              <a:t>genieX + Qualcomm AI Hub (On-Device NPU)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2E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2E6FEB"/>
                </a:solidFill>
                <a:latin typeface="Segoe UI"/>
              </a:rPr>
              <a:t>▪  </a:t>
            </a:r>
            <a:r>
              <a:rPr sz="1650">
                <a:solidFill>
                  <a:srgbClr val="333B47"/>
                </a:solidFill>
                <a:latin typeface="Segoe UI"/>
              </a:rPr>
              <a:t>2nd choice — but the highlight: the whole model runs on this laptop's NPU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2E6FEB"/>
                </a:solidFill>
                <a:latin typeface="Segoe UI"/>
              </a:rPr>
              <a:t>▪  </a:t>
            </a:r>
            <a:r>
              <a:rPr sz="1650">
                <a:solidFill>
                  <a:srgbClr val="333B47"/>
                </a:solidFill>
                <a:latin typeface="Segoe UI"/>
              </a:rPr>
              <a:t>Qualcomm AI Hub — optimizes the model for Qualcomm NPU silicon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2E6FEB"/>
                </a:solidFill>
                <a:latin typeface="Segoe UI"/>
              </a:rPr>
              <a:t>▪  </a:t>
            </a:r>
            <a:r>
              <a:rPr sz="1650">
                <a:solidFill>
                  <a:srgbClr val="333B47"/>
                </a:solidFill>
                <a:latin typeface="Segoe UI"/>
              </a:rPr>
              <a:t>QUAD — quantizes the model for efficient on-device execution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2E6FEB"/>
                </a:solidFill>
                <a:latin typeface="Segoe UI"/>
              </a:rPr>
              <a:t>▪  </a:t>
            </a:r>
            <a:r>
              <a:rPr sz="1650">
                <a:solidFill>
                  <a:srgbClr val="333B47"/>
                </a:solidFill>
                <a:latin typeface="Segoe UI"/>
              </a:rPr>
              <a:t>genieX — local runtime, OpenAI-compatible API on localhost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2E6FEB"/>
                </a:solidFill>
                <a:latin typeface="Segoe UI"/>
              </a:rPr>
              <a:t>▪  </a:t>
            </a:r>
            <a:r>
              <a:rPr sz="1650">
                <a:solidFill>
                  <a:srgbClr val="333B47"/>
                </a:solidFill>
                <a:latin typeface="Segoe UI"/>
              </a:rPr>
              <a:t>Model: Qwen3-4B, quantized (W4A16) to run efficiently on-NPU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2E6FEB"/>
                </a:solidFill>
                <a:latin typeface="Segoe UI"/>
              </a:rPr>
              <a:t>▪  </a:t>
            </a:r>
            <a:r>
              <a:rPr sz="1650">
                <a:solidFill>
                  <a:srgbClr val="333B47"/>
                </a:solidFill>
                <a:latin typeface="Segoe UI"/>
              </a:rPr>
              <a:t>No API key, no network call — this path works with Wi-Fi off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2E6FEB"/>
                </a:solidFill>
                <a:latin typeface="Segoe UI"/>
              </a:rPr>
              <a:t>▪  </a:t>
            </a:r>
            <a:r>
              <a:rPr sz="1650">
                <a:solidFill>
                  <a:srgbClr val="333B47"/>
                </a:solidFill>
                <a:latin typeface="Segoe UI"/>
              </a:rPr>
              <a:t>Real quirks (this is genuinely live, not canned):</a:t>
            </a:r>
          </a:p>
          <a:p>
            <a:pPr marL="384048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>
                <a:solidFill>
                  <a:srgbClr val="5B6675"/>
                </a:solidFill>
                <a:latin typeface="Segoe UI"/>
              </a:rPr>
              <a:t>–  </a:t>
            </a:r>
            <a:r>
              <a:rPr sz="1350" i="0">
                <a:solidFill>
                  <a:srgbClr val="5B6675"/>
                </a:solidFill>
                <a:latin typeface="Segoe UI"/>
              </a:rPr>
              <a:t>up to ~2 min for a full response — NPU serving characteristic at this model size</a:t>
            </a:r>
          </a:p>
          <a:p>
            <a:pPr marL="384048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>
                <a:solidFill>
                  <a:srgbClr val="5B6675"/>
                </a:solidFill>
                <a:latin typeface="Segoe UI"/>
              </a:rPr>
              <a:t>–  </a:t>
            </a:r>
            <a:r>
              <a:rPr sz="1350" i="0">
                <a:solidFill>
                  <a:srgbClr val="5B6675"/>
                </a:solidFill>
                <a:latin typeface="Segoe UI"/>
              </a:rPr>
              <a:t>inline &lt;think&gt; reasoning is stripped before the user ever sees it</a:t>
            </a:r>
          </a:p>
          <a:p>
            <a:pPr marL="384048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>
                <a:solidFill>
                  <a:srgbClr val="5B6675"/>
                </a:solidFill>
                <a:latin typeface="Segoe UI"/>
              </a:rPr>
              <a:t>–  </a:t>
            </a:r>
            <a:r>
              <a:rPr sz="1350" i="0">
                <a:solidFill>
                  <a:srgbClr val="5B6675"/>
                </a:solidFill>
                <a:latin typeface="Segoe UI"/>
              </a:rPr>
              <a:t>occasional repeating tail output is detected and truncated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Physical-Context MCP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E8A7E"/>
                </a:solidFill>
                <a:latin typeface="Segoe UI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223D"/>
                </a:solidFill>
                <a:latin typeface="Segoe UI"/>
              </a:rPr>
              <a:t>The Case for On-Device Inference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2E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900">
                <a:solidFill>
                  <a:srgbClr val="333B47"/>
                </a:solidFill>
                <a:latin typeface="Segoe UI"/>
              </a:rPr>
              <a:t>Privacy — GPS, motion, and environment data never leave the laptop on this path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900">
                <a:solidFill>
                  <a:srgbClr val="333B47"/>
                </a:solidFill>
                <a:latin typeface="Segoe UI"/>
              </a:rPr>
              <a:t>Works offline — no connectivity dependency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900">
                <a:solidFill>
                  <a:srgbClr val="333B47"/>
                </a:solidFill>
                <a:latin typeface="Segoe UI"/>
              </a:rPr>
              <a:t>Predictable latency floor — no network round trip, no provider outages to wait 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900">
                <a:solidFill>
                  <a:srgbClr val="333B47"/>
                </a:solidFill>
                <a:latin typeface="Segoe UI"/>
              </a:rPr>
              <a:t>No per-token cloud billing on the fallback path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900">
                <a:solidFill>
                  <a:srgbClr val="333B47"/>
                </a:solidFill>
                <a:latin typeface="Segoe UI"/>
              </a:rPr>
              <a:t>Honest trade-off: slower and slightly lower quality than the cloud 8B model — that's why it's tiered, not a replacement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Physical-Context MCP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E8A7E"/>
                </a:solidFill>
                <a:latin typeface="Segoe UI"/>
              </a:rPr>
              <a:t>BIGGER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223D"/>
                </a:solidFill>
                <a:latin typeface="Segoe UI"/>
              </a:rPr>
              <a:t>Why Give A Chatbot Physical Context At 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2E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1700" b="1">
                <a:solidFill>
                  <a:srgbClr val="2E6FEB"/>
                </a:solidFill>
                <a:latin typeface="Segoe UI"/>
              </a:rPr>
              <a:t>▪  </a:t>
            </a:r>
            <a:r>
              <a:rPr sz="2000">
                <a:solidFill>
                  <a:srgbClr val="333B47"/>
                </a:solidFill>
                <a:latin typeface="Segoe UI"/>
              </a:rPr>
              <a:t>Today's assistants answer from text alone — no idea if you're cold, moving, or indoors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1700" b="1">
                <a:solidFill>
                  <a:srgbClr val="2E6FEB"/>
                </a:solidFill>
                <a:latin typeface="Segoe UI"/>
              </a:rPr>
              <a:t>▪  </a:t>
            </a:r>
            <a:r>
              <a:rPr sz="2000">
                <a:solidFill>
                  <a:srgbClr val="333B47"/>
                </a:solidFill>
                <a:latin typeface="Segoe UI"/>
              </a:rPr>
              <a:t>Grounded answers instead of generic ones: “should I wear a jacket?” uses the room's real temperature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1700" b="1">
                <a:solidFill>
                  <a:srgbClr val="2E6FEB"/>
                </a:solidFill>
                <a:latin typeface="Segoe UI"/>
              </a:rPr>
              <a:t>▪  </a:t>
            </a:r>
            <a:r>
              <a:rPr sz="2000">
                <a:solidFill>
                  <a:srgbClr val="333B47"/>
                </a:solidFill>
                <a:latin typeface="Segoe UI"/>
              </a:rPr>
              <a:t>Same shift as “no memory” → “remembers our conversation” — this is the next layer: aware of your physical situation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1700" b="1">
                <a:solidFill>
                  <a:srgbClr val="2E6FEB"/>
                </a:solidFill>
                <a:latin typeface="Segoe UI"/>
              </a:rPr>
              <a:t>▪  </a:t>
            </a:r>
            <a:r>
              <a:rPr sz="2000">
                <a:solidFill>
                  <a:srgbClr val="333B47"/>
                </a:solidFill>
                <a:latin typeface="Segoe UI"/>
              </a:rPr>
              <a:t>Self-describing tool — Claude decides when it's relevant, not forced into every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Physical-Context MCP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E8A7E"/>
                </a:solidFill>
                <a:latin typeface="Segoe UI"/>
              </a:rPr>
              <a:t>LOOKING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223D"/>
                </a:solidFill>
                <a:latin typeface="Segoe UI"/>
              </a:rPr>
              <a:t>Toward A True Smart Home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2E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E6FEB"/>
                </a:solidFill>
                <a:latin typeface="Segoe UI"/>
              </a:rPr>
              <a:t>▪  </a:t>
            </a:r>
            <a:r>
              <a:rPr sz="1750">
                <a:solidFill>
                  <a:srgbClr val="333B47"/>
                </a:solidFill>
                <a:latin typeface="Segoe UI"/>
              </a:rPr>
              <a:t>Today: read-only — sensors → interpretation → answer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E6FEB"/>
                </a:solidFill>
                <a:latin typeface="Segoe UI"/>
              </a:rPr>
              <a:t>▪  </a:t>
            </a:r>
            <a:r>
              <a:rPr sz="1750">
                <a:solidFill>
                  <a:srgbClr val="333B47"/>
                </a:solidFill>
                <a:latin typeface="Segoe UI"/>
              </a:rPr>
              <a:t>Next: close the loop — acting, not just reporting</a:t>
            </a:r>
          </a:p>
          <a:p>
            <a:pPr marL="384048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5B6675"/>
                </a:solidFill>
                <a:latin typeface="Segoe UI"/>
              </a:rPr>
              <a:t>–  </a:t>
            </a:r>
            <a:r>
              <a:rPr sz="1500" i="0">
                <a:solidFill>
                  <a:srgbClr val="5B6675"/>
                </a:solidFill>
                <a:latin typeface="Segoe UI"/>
              </a:rPr>
              <a:t>auto-adjust lights from ambient light + occupancy</a:t>
            </a:r>
          </a:p>
          <a:p>
            <a:pPr marL="384048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5B6675"/>
                </a:solidFill>
                <a:latin typeface="Segoe UI"/>
              </a:rPr>
              <a:t>–  </a:t>
            </a:r>
            <a:r>
              <a:rPr sz="1500" i="0">
                <a:solidFill>
                  <a:srgbClr val="5B6675"/>
                </a:solidFill>
                <a:latin typeface="Segoe UI"/>
              </a:rPr>
              <a:t>auto-adjust thermostat from live temperature + motion, not a fixed schedule</a:t>
            </a:r>
          </a:p>
          <a:p>
            <a:pPr marL="384048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5B6675"/>
                </a:solidFill>
                <a:latin typeface="Segoe UI"/>
              </a:rPr>
              <a:t>–  </a:t>
            </a:r>
            <a:r>
              <a:rPr sz="1500" i="0">
                <a:solidFill>
                  <a:srgbClr val="5B6675"/>
                </a:solidFill>
                <a:latin typeface="Segoe UI"/>
              </a:rPr>
              <a:t>proactive suggestions: “you've been still 20 min and it's dropped to 18°C — want the heat on?”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E6FEB"/>
                </a:solidFill>
                <a:latin typeface="Segoe UI"/>
              </a:rPr>
              <a:t>▪  </a:t>
            </a:r>
            <a:r>
              <a:rPr sz="1750">
                <a:solidFill>
                  <a:srgbClr val="333B47"/>
                </a:solidFill>
                <a:latin typeface="Segoe UI"/>
              </a:rPr>
              <a:t>The privacy case gets stronger here — decisions about your home should stay on-device wherever possible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E6FEB"/>
                </a:solidFill>
                <a:latin typeface="Segoe UI"/>
              </a:rPr>
              <a:t>▪  </a:t>
            </a:r>
            <a:r>
              <a:rPr sz="1750">
                <a:solidFill>
                  <a:srgbClr val="333B47"/>
                </a:solidFill>
                <a:latin typeface="Segoe UI"/>
              </a:rPr>
              <a:t>Same architecture scales: more sensors, more actuators, same context-builder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Physical-Context MCP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E8A7E"/>
                </a:solidFill>
                <a:latin typeface="Segoe U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223D"/>
                </a:solidFill>
                <a:latin typeface="Segoe UI"/>
              </a:rPr>
              <a:t>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2E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900">
                <a:solidFill>
                  <a:srgbClr val="333B47"/>
                </a:solidFill>
                <a:latin typeface="Segoe UI"/>
              </a:rPr>
              <a:t>Two real sensor sources: Arduino UNO Q + Samsung S25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900">
                <a:solidFill>
                  <a:srgbClr val="333B47"/>
                </a:solidFill>
                <a:latin typeface="Segoe UI"/>
              </a:rPr>
              <a:t>Two-tier LLM interpretation: Qualcomm Cloud AI 100 (Imagine) for speed, on-device Qualcomm NPU (genieX) for privacy + resilience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900">
                <a:solidFill>
                  <a:srgbClr val="333B47"/>
                </a:solidFill>
                <a:latin typeface="Segoe UI"/>
              </a:rPr>
              <a:t>Exposed to Claude over the open MCP standard via FastMCP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900">
                <a:solidFill>
                  <a:srgbClr val="333B47"/>
                </a:solidFill>
                <a:latin typeface="Segoe UI"/>
              </a:rPr>
              <a:t>Fully working end-to-end, live-tested this session — including the on-device fallback path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2E6FEB"/>
                </a:solidFill>
                <a:latin typeface="Segoe UI"/>
              </a:rPr>
              <a:t>▪  </a:t>
            </a:r>
            <a:r>
              <a:rPr sz="1900">
                <a:solidFill>
                  <a:srgbClr val="333B47"/>
                </a:solidFill>
                <a:latin typeface="Segoe UI"/>
              </a:rPr>
              <a:t>Vision: same pattern, more sensors, aware → acting — a privacy-preserving smart 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Physical-Context MCP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5"/>
                </a:solidFill>
                <a:latin typeface="Segoe U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E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11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C9D3E3"/>
                </a:solidFill>
                <a:latin typeface="Segoe U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